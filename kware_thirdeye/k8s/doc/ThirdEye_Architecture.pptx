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2" d="100"/>
          <a:sy n="212" d="100"/>
        </p:scale>
        <p:origin x="32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9505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Kware ThirdEye — Kubernetes 아키텍처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ED6F1"/>
                </a:solidFill>
              </a:rPr>
              <a:t>v0.2.0</a:t>
            </a:r>
            <a:endParaRPr lang="en-US" sz="1100" dirty="0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AC4157B-01AB-7CED-28FD-9E076005FCB4}"/>
              </a:ext>
            </a:extLst>
          </p:cNvPr>
          <p:cNvGrpSpPr/>
          <p:nvPr/>
        </p:nvGrpSpPr>
        <p:grpSpPr>
          <a:xfrm>
            <a:off x="228600" y="630936"/>
            <a:ext cx="8686800" cy="4306824"/>
            <a:chOff x="228600" y="630936"/>
            <a:chExt cx="8686800" cy="4306824"/>
          </a:xfrm>
        </p:grpSpPr>
        <p:sp>
          <p:nvSpPr>
            <p:cNvPr id="5" name="Shape 3"/>
            <p:cNvSpPr/>
            <p:nvPr/>
          </p:nvSpPr>
          <p:spPr>
            <a:xfrm>
              <a:off x="228600" y="630936"/>
              <a:ext cx="8686800" cy="4114800"/>
            </a:xfrm>
            <a:prstGeom prst="rect">
              <a:avLst/>
            </a:prstGeom>
            <a:solidFill>
              <a:srgbClr val="EBF5FB">
                <a:alpha val="60000"/>
              </a:srgbClr>
            </a:solidFill>
            <a:ln w="15240">
              <a:solidFill>
                <a:srgbClr val="2E86C1"/>
              </a:solidFill>
              <a:prstDash val="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365760" y="676656"/>
              <a:ext cx="2286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2E86C1"/>
                  </a:solidFill>
                </a:rPr>
                <a:t>Kubernetes Cluster</a:t>
              </a:r>
              <a:endParaRPr lang="en-US" sz="1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2743200" y="3209544"/>
              <a:ext cx="3657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5D6D7E"/>
                  </a:solidFill>
                </a:rPr>
                <a:t>▼  thirdeye-storage-class  ▼</a:t>
              </a:r>
              <a:endParaRPr lang="en-US" sz="9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457200" y="886968"/>
              <a:ext cx="2377440" cy="1234440"/>
            </a:xfrm>
            <a:prstGeom prst="roundRect">
              <a:avLst>
                <a:gd name="adj" fmla="val 5926"/>
              </a:avLst>
            </a:prstGeom>
            <a:solidFill>
              <a:srgbClr val="D6EAF8"/>
            </a:solidFill>
            <a:ln w="10160">
              <a:solidFill>
                <a:srgbClr val="2E86C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886968"/>
              <a:ext cx="2377440" cy="347472"/>
            </a:xfrm>
            <a:prstGeom prst="rect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566928" y="886968"/>
              <a:ext cx="215798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thirdeye-app</a:t>
              </a:r>
              <a:endParaRPr lang="en-US" sz="11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1005840" y="1298448"/>
              <a:ext cx="1280160" cy="201168"/>
            </a:xfrm>
            <a:prstGeom prst="roundRect">
              <a:avLst>
                <a:gd name="adj" fmla="val 18182"/>
              </a:avLst>
            </a:prstGeom>
            <a:solidFill>
              <a:srgbClr val="FFFFFF">
                <a:alpha val="70000"/>
              </a:srgbClr>
            </a:solidFill>
            <a:ln w="6350">
              <a:solidFill>
                <a:srgbClr val="2E86C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502920" y="1298448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1A5276"/>
                  </a:solidFill>
                </a:rPr>
                <a:t>Deployment</a:t>
              </a:r>
              <a:endParaRPr lang="en-US" sz="85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566928" y="1572768"/>
              <a:ext cx="2157984" cy="210312"/>
            </a:xfrm>
            <a:prstGeom prst="roundRect">
              <a:avLst>
                <a:gd name="adj" fmla="val 17391"/>
              </a:avLst>
            </a:prstGeom>
            <a:solidFill>
              <a:srgbClr val="FFFFFF">
                <a:alpha val="80000"/>
              </a:srgbClr>
            </a:solidFill>
            <a:ln w="6350">
              <a:solidFill>
                <a:srgbClr val="2E86C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566928" y="1572768"/>
              <a:ext cx="2157984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A5276"/>
                  </a:solidFill>
                </a:rPr>
                <a:t>Spring Boot  ·  Port 9094</a:t>
              </a:r>
              <a:endParaRPr lang="en-US" sz="8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66928" y="1819656"/>
              <a:ext cx="2157984" cy="210312"/>
            </a:xfrm>
            <a:prstGeom prst="roundRect">
              <a:avLst>
                <a:gd name="adj" fmla="val 17391"/>
              </a:avLst>
            </a:prstGeom>
            <a:solidFill>
              <a:srgbClr val="D0E8F7"/>
            </a:solidFill>
            <a:ln w="6350">
              <a:solidFill>
                <a:srgbClr val="2E86C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566928" y="1819656"/>
              <a:ext cx="2157984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A5276"/>
                  </a:solidFill>
                </a:rPr>
                <a:t>NodePort 30094</a:t>
              </a:r>
              <a:endParaRPr lang="en-US" sz="8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309360" y="886968"/>
              <a:ext cx="2377440" cy="1234440"/>
            </a:xfrm>
            <a:prstGeom prst="roundRect">
              <a:avLst>
                <a:gd name="adj" fmla="val 5926"/>
              </a:avLst>
            </a:prstGeom>
            <a:solidFill>
              <a:srgbClr val="D1F2EB"/>
            </a:solidFill>
            <a:ln w="10160">
              <a:solidFill>
                <a:srgbClr val="0F6E56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6309360" y="886968"/>
              <a:ext cx="2377440" cy="347472"/>
            </a:xfrm>
            <a:prstGeom prst="rect">
              <a:avLst/>
            </a:prstGeom>
            <a:solidFill>
              <a:srgbClr val="0F6E56"/>
            </a:solidFill>
            <a:ln w="12700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6419088" y="886968"/>
              <a:ext cx="215798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thirdeye-db-0</a:t>
              </a:r>
              <a:endParaRPr lang="en-US" sz="11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858000" y="1298448"/>
              <a:ext cx="1280160" cy="201168"/>
            </a:xfrm>
            <a:prstGeom prst="roundRect">
              <a:avLst>
                <a:gd name="adj" fmla="val 18182"/>
              </a:avLst>
            </a:prstGeom>
            <a:solidFill>
              <a:srgbClr val="FFFFFF">
                <a:alpha val="70000"/>
              </a:srgbClr>
            </a:solidFill>
            <a:ln w="6350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6355080" y="1298448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0F6E56"/>
                  </a:solidFill>
                </a:rPr>
                <a:t>StatefulSet</a:t>
              </a:r>
              <a:endParaRPr lang="en-US" sz="85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6419088" y="1572768"/>
              <a:ext cx="2157984" cy="210312"/>
            </a:xfrm>
            <a:prstGeom prst="roundRect">
              <a:avLst>
                <a:gd name="adj" fmla="val 17391"/>
              </a:avLst>
            </a:prstGeom>
            <a:solidFill>
              <a:srgbClr val="FFFFFF">
                <a:alpha val="80000"/>
              </a:srgbClr>
            </a:solidFill>
            <a:ln w="6350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6419088" y="1572768"/>
              <a:ext cx="2157984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0F6E56"/>
                  </a:solidFill>
                </a:rPr>
                <a:t>PostgreSQL 14.5  ·  Port 5432</a:t>
              </a:r>
              <a:endParaRPr lang="en-US" sz="8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6419088" y="1819656"/>
              <a:ext cx="2157984" cy="210312"/>
            </a:xfrm>
            <a:prstGeom prst="roundRect">
              <a:avLst>
                <a:gd name="adj" fmla="val 17391"/>
              </a:avLst>
            </a:prstGeom>
            <a:solidFill>
              <a:srgbClr val="ABEBD2"/>
            </a:solidFill>
            <a:ln w="6350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 23"/>
            <p:cNvSpPr/>
            <p:nvPr/>
          </p:nvSpPr>
          <p:spPr>
            <a:xfrm>
              <a:off x="6419088" y="1819656"/>
              <a:ext cx="2157984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F6E56"/>
                  </a:solidFill>
                </a:rPr>
                <a:t>NodePort 30543</a:t>
              </a:r>
              <a:endParaRPr lang="en-US" sz="8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2852928" y="1408176"/>
              <a:ext cx="3438144" cy="0"/>
            </a:xfrm>
            <a:prstGeom prst="line">
              <a:avLst/>
            </a:prstGeom>
            <a:noFill/>
            <a:ln w="19050">
              <a:solidFill>
                <a:srgbClr val="2E86C1"/>
              </a:solidFill>
              <a:prstDash val="solid"/>
              <a:tailEnd type="arrow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4069080" y="1298448"/>
              <a:ext cx="640080" cy="201168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6350">
              <a:solidFill>
                <a:srgbClr val="AED6F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4069080" y="1298448"/>
              <a:ext cx="6400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2E86C1"/>
                  </a:solidFill>
                </a:rPr>
                <a:t>SQL</a:t>
              </a:r>
              <a:endParaRPr lang="en-US" sz="8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457200" y="2432304"/>
              <a:ext cx="2377440" cy="594360"/>
            </a:xfrm>
            <a:prstGeom prst="roundRect">
              <a:avLst>
                <a:gd name="adj" fmla="val 10769"/>
              </a:avLst>
            </a:prstGeom>
            <a:solidFill>
              <a:srgbClr val="E8DAEF"/>
            </a:solidFill>
            <a:ln w="10160">
              <a:solidFill>
                <a:srgbClr val="512E8F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28"/>
            <p:cNvSpPr/>
            <p:nvPr/>
          </p:nvSpPr>
          <p:spPr>
            <a:xfrm>
              <a:off x="548640" y="2478024"/>
              <a:ext cx="21945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512E8F"/>
                  </a:solidFill>
                </a:rPr>
                <a:t>app-data-pvc</a:t>
              </a:r>
              <a:endParaRPr lang="en-US" sz="9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548640" y="2734056"/>
              <a:ext cx="21945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C3483"/>
                  </a:solidFill>
                </a:rPr>
                <a:t>앱 데이터  ·  /app/data</a:t>
              </a:r>
              <a:endParaRPr lang="en-US" sz="8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6309360" y="2432304"/>
              <a:ext cx="2377440" cy="594360"/>
            </a:xfrm>
            <a:prstGeom prst="roundRect">
              <a:avLst>
                <a:gd name="adj" fmla="val 10769"/>
              </a:avLst>
            </a:prstGeom>
            <a:solidFill>
              <a:srgbClr val="E8DAEF"/>
            </a:solidFill>
            <a:ln w="10160">
              <a:solidFill>
                <a:srgbClr val="512E8F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 31"/>
            <p:cNvSpPr/>
            <p:nvPr/>
          </p:nvSpPr>
          <p:spPr>
            <a:xfrm>
              <a:off x="6400800" y="2478024"/>
              <a:ext cx="21945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512E8F"/>
                  </a:solidFill>
                </a:rPr>
                <a:t>db-data-final-thirdeye-db-0</a:t>
              </a:r>
              <a:endParaRPr lang="en-US" sz="9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6400800" y="2734056"/>
              <a:ext cx="21945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C3483"/>
                  </a:solidFill>
                </a:rPr>
                <a:t>DB 데이터</a:t>
              </a:r>
              <a:endParaRPr lang="en-US" sz="8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1645920" y="2130552"/>
              <a:ext cx="0" cy="292608"/>
            </a:xfrm>
            <a:prstGeom prst="line">
              <a:avLst/>
            </a:prstGeom>
            <a:noFill/>
            <a:ln w="15240">
              <a:solidFill>
                <a:srgbClr val="512E8F"/>
              </a:solidFill>
              <a:prstDash val="solid"/>
              <a:tailEnd type="arrow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7498080" y="2130552"/>
              <a:ext cx="0" cy="292608"/>
            </a:xfrm>
            <a:prstGeom prst="line">
              <a:avLst/>
            </a:prstGeom>
            <a:noFill/>
            <a:ln w="15240">
              <a:solidFill>
                <a:srgbClr val="512E8F"/>
              </a:solidFill>
              <a:prstDash val="solid"/>
              <a:tailEnd type="arrow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Shape 35"/>
            <p:cNvSpPr/>
            <p:nvPr/>
          </p:nvSpPr>
          <p:spPr>
            <a:xfrm>
              <a:off x="1645920" y="3035808"/>
              <a:ext cx="0" cy="201168"/>
            </a:xfrm>
            <a:prstGeom prst="line">
              <a:avLst/>
            </a:prstGeom>
            <a:noFill/>
            <a:ln w="15240">
              <a:solidFill>
                <a:srgbClr val="9A6500"/>
              </a:solidFill>
              <a:prstDash val="sysDash"/>
              <a:tailEnd type="arrow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Shape 36"/>
            <p:cNvSpPr/>
            <p:nvPr/>
          </p:nvSpPr>
          <p:spPr>
            <a:xfrm>
              <a:off x="7498080" y="3035808"/>
              <a:ext cx="0" cy="201168"/>
            </a:xfrm>
            <a:prstGeom prst="line">
              <a:avLst/>
            </a:prstGeom>
            <a:noFill/>
            <a:ln w="15240">
              <a:solidFill>
                <a:srgbClr val="922B21"/>
              </a:solidFill>
              <a:prstDash val="sysDash"/>
              <a:tailEnd type="arrow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Shape 37"/>
            <p:cNvSpPr/>
            <p:nvPr/>
          </p:nvSpPr>
          <p:spPr>
            <a:xfrm>
              <a:off x="347472" y="3246120"/>
              <a:ext cx="3474720" cy="914400"/>
            </a:xfrm>
            <a:prstGeom prst="roundRect">
              <a:avLst>
                <a:gd name="adj" fmla="val 8000"/>
              </a:avLst>
            </a:prstGeom>
            <a:solidFill>
              <a:srgbClr val="FEF9E7"/>
            </a:solidFill>
            <a:ln w="10160">
              <a:solidFill>
                <a:srgbClr val="9A650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Shape 38"/>
            <p:cNvSpPr/>
            <p:nvPr/>
          </p:nvSpPr>
          <p:spPr>
            <a:xfrm>
              <a:off x="347472" y="3246120"/>
              <a:ext cx="3474720" cy="274320"/>
            </a:xfrm>
            <a:prstGeom prst="rect">
              <a:avLst/>
            </a:prstGeom>
            <a:solidFill>
              <a:srgbClr val="9A6500"/>
            </a:solidFill>
            <a:ln w="12700">
              <a:solidFill>
                <a:srgbClr val="9A650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 39"/>
            <p:cNvSpPr/>
            <p:nvPr/>
          </p:nvSpPr>
          <p:spPr>
            <a:xfrm>
              <a:off x="438912" y="3246120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옵션 A — 로컬 스토리지</a:t>
              </a:r>
              <a:endParaRPr lang="en-US" sz="10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438912" y="3557016"/>
              <a:ext cx="32918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7D5A00"/>
                  </a:solidFill>
                </a:rPr>
                <a:t>hostPath</a:t>
              </a:r>
              <a:endParaRPr lang="en-US" sz="85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438912" y="3758184"/>
              <a:ext cx="32918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7D5A00"/>
                  </a:solidFill>
                </a:rPr>
                <a:t>/mnt/data/thirdeye/</a:t>
              </a:r>
              <a:endParaRPr lang="en-US" sz="85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438912" y="3959352"/>
              <a:ext cx="32918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7D5A00"/>
                  </a:solidFill>
                </a:rPr>
                <a:t>단일 노드 테스트 · PoC</a:t>
              </a:r>
              <a:endParaRPr lang="en-US" sz="85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5321808" y="3246120"/>
              <a:ext cx="3474720" cy="914400"/>
            </a:xfrm>
            <a:prstGeom prst="roundRect">
              <a:avLst>
                <a:gd name="adj" fmla="val 8000"/>
              </a:avLst>
            </a:prstGeom>
            <a:solidFill>
              <a:srgbClr val="FDEDEC"/>
            </a:solidFill>
            <a:ln w="10160">
              <a:solidFill>
                <a:srgbClr val="922B2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Shape 44"/>
            <p:cNvSpPr/>
            <p:nvPr/>
          </p:nvSpPr>
          <p:spPr>
            <a:xfrm>
              <a:off x="5321808" y="3246120"/>
              <a:ext cx="3474720" cy="274320"/>
            </a:xfrm>
            <a:prstGeom prst="rect">
              <a:avLst/>
            </a:prstGeom>
            <a:solidFill>
              <a:srgbClr val="922B21"/>
            </a:solidFill>
            <a:ln w="12700">
              <a:solidFill>
                <a:srgbClr val="922B2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Text 45"/>
            <p:cNvSpPr/>
            <p:nvPr/>
          </p:nvSpPr>
          <p:spPr>
            <a:xfrm>
              <a:off x="5413248" y="3246120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옵션 B — NFS 스토리지</a:t>
              </a:r>
              <a:endParaRPr lang="en-US" sz="10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5413248" y="3557016"/>
              <a:ext cx="32918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7B241C"/>
                  </a:solidFill>
                </a:rPr>
                <a:t>nfs-subdir-external-provisioner</a:t>
              </a:r>
              <a:endParaRPr lang="en-US" sz="85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5413248" y="3758184"/>
              <a:ext cx="32918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7B241C"/>
                  </a:solidFill>
                </a:rPr>
                <a:t>172.30.1.1:/home/nfs_data/kube</a:t>
              </a:r>
              <a:endParaRPr lang="en-US" sz="85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5413248" y="3959352"/>
              <a:ext cx="32918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7B241C"/>
                  </a:solidFill>
                </a:rPr>
                <a:t>다중 노드 운영 환경</a:t>
              </a:r>
              <a:endParaRPr lang="en-US" sz="85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3474720" y="658368"/>
              <a:ext cx="2194560" cy="475488"/>
            </a:xfrm>
            <a:prstGeom prst="roundRect">
              <a:avLst>
                <a:gd name="adj" fmla="val 11538"/>
              </a:avLst>
            </a:prstGeom>
            <a:solidFill>
              <a:srgbClr val="F2F3F4"/>
            </a:solidFill>
            <a:ln w="6350">
              <a:solidFill>
                <a:srgbClr val="B2BABB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" name="Text 50"/>
            <p:cNvSpPr/>
            <p:nvPr/>
          </p:nvSpPr>
          <p:spPr>
            <a:xfrm>
              <a:off x="3474720" y="658368"/>
              <a:ext cx="219456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1A5276"/>
                  </a:solidFill>
                </a:rPr>
                <a:t>웹 앱 NodePort 30094   </a:t>
              </a:r>
              <a:r>
                <a:rPr lang="en-US" sz="850" dirty="0">
                  <a:solidFill>
                    <a:srgbClr val="CCCCCC"/>
                  </a:solidFill>
                </a:rPr>
                <a:t>|</a:t>
              </a:r>
              <a:r>
                <a:rPr lang="en-US" sz="850" dirty="0">
                  <a:solidFill>
                    <a:srgbClr val="0F6E56"/>
                  </a:solidFill>
                </a:rPr>
                <a:t>   DB NodePort 30543</a:t>
              </a:r>
              <a:endParaRPr lang="en-US" sz="85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274320" y="4818888"/>
              <a:ext cx="109728" cy="109728"/>
            </a:xfrm>
            <a:prstGeom prst="ellipse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 52"/>
            <p:cNvSpPr/>
            <p:nvPr/>
          </p:nvSpPr>
          <p:spPr>
            <a:xfrm>
              <a:off x="429768" y="4809744"/>
              <a:ext cx="1463040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5D6D7E"/>
                  </a:solidFill>
                </a:rPr>
                <a:t>App Pod</a:t>
              </a:r>
              <a:endParaRPr lang="en-US" sz="85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1965960" y="4818888"/>
              <a:ext cx="109728" cy="109728"/>
            </a:xfrm>
            <a:prstGeom prst="ellipse">
              <a:avLst/>
            </a:prstGeom>
            <a:solidFill>
              <a:srgbClr val="0F6E56"/>
            </a:solidFill>
            <a:ln w="12700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Text 54"/>
            <p:cNvSpPr/>
            <p:nvPr/>
          </p:nvSpPr>
          <p:spPr>
            <a:xfrm>
              <a:off x="2121408" y="4809744"/>
              <a:ext cx="1463040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5D6D7E"/>
                  </a:solidFill>
                </a:rPr>
                <a:t>DB Pod</a:t>
              </a:r>
              <a:endParaRPr lang="en-US" sz="85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3657600" y="4818888"/>
              <a:ext cx="109728" cy="109728"/>
            </a:xfrm>
            <a:prstGeom prst="ellipse">
              <a:avLst/>
            </a:prstGeom>
            <a:solidFill>
              <a:srgbClr val="512E8F"/>
            </a:solidFill>
            <a:ln w="12700">
              <a:solidFill>
                <a:srgbClr val="512E8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Text 56"/>
            <p:cNvSpPr/>
            <p:nvPr/>
          </p:nvSpPr>
          <p:spPr>
            <a:xfrm>
              <a:off x="3813048" y="4809744"/>
              <a:ext cx="1463040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5D6D7E"/>
                  </a:solidFill>
                </a:rPr>
                <a:t>PVC</a:t>
              </a:r>
              <a:endParaRPr lang="en-US" sz="850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5349240" y="4818888"/>
              <a:ext cx="109728" cy="109728"/>
            </a:xfrm>
            <a:prstGeom prst="ellipse">
              <a:avLst/>
            </a:prstGeom>
            <a:solidFill>
              <a:srgbClr val="9A6500"/>
            </a:solidFill>
            <a:ln w="12700">
              <a:solidFill>
                <a:srgbClr val="9A650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Text 58"/>
            <p:cNvSpPr/>
            <p:nvPr/>
          </p:nvSpPr>
          <p:spPr>
            <a:xfrm>
              <a:off x="5504688" y="4809744"/>
              <a:ext cx="1463040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5D6D7E"/>
                  </a:solidFill>
                </a:rPr>
                <a:t>옵션 A (로컬)</a:t>
              </a:r>
              <a:endParaRPr lang="en-US" sz="85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7040880" y="4818888"/>
              <a:ext cx="109728" cy="109728"/>
            </a:xfrm>
            <a:prstGeom prst="ellipse">
              <a:avLst/>
            </a:prstGeom>
            <a:solidFill>
              <a:srgbClr val="922B21"/>
            </a:solidFill>
            <a:ln w="12700">
              <a:solidFill>
                <a:srgbClr val="922B2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Text 60"/>
            <p:cNvSpPr/>
            <p:nvPr/>
          </p:nvSpPr>
          <p:spPr>
            <a:xfrm>
              <a:off x="7196328" y="4809744"/>
              <a:ext cx="1463040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5D6D7E"/>
                  </a:solidFill>
                </a:rPr>
                <a:t>옵션 B (NFS)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102</Words>
  <Application>Microsoft Office PowerPoint</Application>
  <PresentationFormat>화면 슬라이드 쇼(16:9)</PresentationFormat>
  <Paragraphs>32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국렬 장</cp:lastModifiedBy>
  <cp:revision>2</cp:revision>
  <dcterms:created xsi:type="dcterms:W3CDTF">2026-05-11T01:35:15Z</dcterms:created>
  <dcterms:modified xsi:type="dcterms:W3CDTF">2026-05-11T01:48:05Z</dcterms:modified>
</cp:coreProperties>
</file>